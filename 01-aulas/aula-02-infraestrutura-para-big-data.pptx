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oboto"/>
      <p:regular r:id="rId201314"/>
    </p:embeddedFont>
    <p:embeddedFont>
      <p:font typeface="Roboto Bold"/>
      <p:regular r:id="rId201315"/>
    </p:embeddedFont>
    <p:embeddedFont>
      <p:font typeface="Roboto Slab"/>
      <p:regular r:id="rId201316"/>
    </p:embeddedFont>
    <p:embeddedFont>
      <p:font typeface="Roboto Slab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40235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Aula 02: Infraestrutura para Big Data e um Desafio Inicial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321745"/>
            <a:ext cx="629686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Uma jornada pelos fundamentos da infraestrutura que sustenta o processamento de dados em escala — desde as lições históricas de projetos que falharam por falta de planejamento arquitetural até os desafios práticos de extrair valor de centenas de milhões de registros em tempo real.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4566245"/>
            <a:ext cx="763172" cy="251420"/>
          </a:xfrm>
          <a:prstGeom prst="roundRect">
            <a:avLst>
              <a:gd name="adj" fmla="val 7894"/>
            </a:avLst>
          </a:prstGeom>
          <a:solidFill>
            <a:srgbClr val="D7DFF4"/>
          </a:solidFill>
          <a:ln/>
        </p:spPr>
      </p:sp>
      <p:sp>
        <p:nvSpPr>
          <p:cNvPr id="6" name="Text 3"/>
          <p:cNvSpPr/>
          <p:nvPr/>
        </p:nvSpPr>
        <p:spPr>
          <a:xfrm>
            <a:off x="760691" y="4615855"/>
            <a:ext cx="1174324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BIG DATA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507294" y="4566245"/>
            <a:ext cx="1302015" cy="25142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3257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6510" y="4615855"/>
            <a:ext cx="171316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INFRAESTRUTURA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891956" y="4566245"/>
            <a:ext cx="1720509" cy="25142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3257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91172" y="4615855"/>
            <a:ext cx="213166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ARQUITETURA DE DADOS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2747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 Navio Vasa: quando a arquitetura falha, a realidade cobra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386905"/>
            <a:ext cx="10868745" cy="1773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 10 de agosto de 1628, o navio de guerra sueco 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Vasa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zarparou em sua viagem inaugural no porto de Estocolmo. Após navegar menos de dois quilômetros, uma rajada de vento inclinou o navio, a água entrou pelas portas dos canhões inferiores e a embarcação afundou em minutos. Um terço da tripulação — cerca de 30 pessoas — morreu no desastre.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que aconteceu? O rei Gustavo Adolfo ordenou, durante a construção, que o navio fosse modificado: de um deck de canhões para dois decks. Essa mudança aumentou o peso na parte superior, elevou o centro de gravidade e tornou o navio instável. Os engenheiros sabiam do risco, mas não tinham autoridade para contestar a decisão real. O projeto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extrapolou os limites do que a arquitetura original suportava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4346674"/>
            <a:ext cx="3512653" cy="1488480"/>
          </a:xfrm>
          <a:prstGeom prst="roundRect">
            <a:avLst>
              <a:gd name="adj" fmla="val 1667"/>
            </a:avLst>
          </a:prstGeom>
          <a:solidFill>
            <a:srgbClr val="E9ECF2"/>
          </a:solidFill>
          <a:ln/>
        </p:spPr>
      </p:sp>
      <p:sp>
        <p:nvSpPr>
          <p:cNvPr id="5" name="Text 3"/>
          <p:cNvSpPr/>
          <p:nvPr/>
        </p:nvSpPr>
        <p:spPr>
          <a:xfrm>
            <a:off x="826769" y="4511973"/>
            <a:ext cx="31820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📅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1628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6769" y="4876006"/>
            <a:ext cx="31820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Ano do naufrágio na viagem inaugural do Vasa, após menos de 2 km navegados.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9422" y="4346674"/>
            <a:ext cx="3512752" cy="1488480"/>
          </a:xfrm>
          <a:prstGeom prst="roundRect">
            <a:avLst>
              <a:gd name="adj" fmla="val 1667"/>
            </a:avLst>
          </a:prstGeom>
          <a:solidFill>
            <a:srgbClr val="E9ECF2"/>
          </a:solidFill>
          <a:ln/>
        </p:spPr>
      </p:sp>
      <p:sp>
        <p:nvSpPr>
          <p:cNvPr id="8" name="Text 6"/>
          <p:cNvSpPr/>
          <p:nvPr/>
        </p:nvSpPr>
        <p:spPr>
          <a:xfrm>
            <a:off x="4504716" y="4511973"/>
            <a:ext cx="3182163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⚓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1/3 da Tripulação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04716" y="4876006"/>
            <a:ext cx="318216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Cerca de 30 marinheiros morreram no afundamento, em um desastre completamente evitável.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4346674"/>
            <a:ext cx="3512653" cy="1488480"/>
          </a:xfrm>
          <a:prstGeom prst="roundRect">
            <a:avLst>
              <a:gd name="adj" fmla="val 1667"/>
            </a:avLst>
          </a:prstGeom>
          <a:solidFill>
            <a:srgbClr val="E9ECF2"/>
          </a:solidFill>
          <a:ln/>
        </p:spPr>
      </p:sp>
      <p:sp>
        <p:nvSpPr>
          <p:cNvPr id="11" name="Text 9"/>
          <p:cNvSpPr/>
          <p:nvPr/>
        </p:nvSpPr>
        <p:spPr>
          <a:xfrm>
            <a:off x="8182762" y="4511973"/>
            <a:ext cx="31820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🏗️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Decisão Tardia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82762" y="4876006"/>
            <a:ext cx="31820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adição do segundo deck de canhões foi ordenada durante a construção, comprometendo a estabilidade estrutural.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141"/>
            <a:ext cx="10868745" cy="411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 que Big Data exige que o Vasa "não fez a tempo"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150045"/>
            <a:ext cx="10868745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lição do Vasa é direta: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mudanças de escopo tardias, sem validação arquitetural, resultam em colapso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Em infraestrutura de dados, "descobrir no dia da entrega" não é apenas um inconveniente — é um fracasso sistêmico. Uma arquitetura de Big Data precisa ser projetada com requisitos claros desde o início.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624" y="1646932"/>
            <a:ext cx="5463344" cy="4682927"/>
          </a:xfrm>
          <a:prstGeom prst="roundRect">
            <a:avLst>
              <a:gd name="adj" fmla="val 422"/>
            </a:avLst>
          </a:prstGeom>
          <a:solidFill>
            <a:srgbClr val="3257B8"/>
          </a:solidFill>
          <a:ln/>
        </p:spPr>
      </p:sp>
      <p:sp>
        <p:nvSpPr>
          <p:cNvPr id="5" name="Text 3"/>
          <p:cNvSpPr/>
          <p:nvPr/>
        </p:nvSpPr>
        <p:spPr>
          <a:xfrm>
            <a:off x="698383" y="1751905"/>
            <a:ext cx="5199825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Os 5 Requisitos Críticos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98383" y="2075855"/>
            <a:ext cx="296458" cy="296466"/>
          </a:xfrm>
          <a:prstGeom prst="roundRect">
            <a:avLst>
              <a:gd name="adj" fmla="val 6669"/>
            </a:avLst>
          </a:prstGeom>
          <a:solidFill>
            <a:srgbClr val="E9ECF2"/>
          </a:solidFill>
          <a:ln/>
        </p:spPr>
      </p:sp>
      <p:sp>
        <p:nvSpPr>
          <p:cNvPr id="7" name="Text 5"/>
          <p:cNvSpPr/>
          <p:nvPr/>
        </p:nvSpPr>
        <p:spPr>
          <a:xfrm>
            <a:off x="747793" y="2100560"/>
            <a:ext cx="197639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99812" y="2121098"/>
            <a:ext cx="4798396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Prazo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9812" y="2431951"/>
            <a:ext cx="4798396" cy="189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Entregas dentro do cronograma, com marcos validados em cada fase do projeto.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8383" y="2831405"/>
            <a:ext cx="296458" cy="296466"/>
          </a:xfrm>
          <a:prstGeom prst="roundRect">
            <a:avLst>
              <a:gd name="adj" fmla="val 6669"/>
            </a:avLst>
          </a:prstGeom>
          <a:solidFill>
            <a:srgbClr val="E9ECF2"/>
          </a:solidFill>
          <a:ln/>
        </p:spPr>
      </p:sp>
      <p:sp>
        <p:nvSpPr>
          <p:cNvPr id="11" name="Text 9"/>
          <p:cNvSpPr/>
          <p:nvPr/>
        </p:nvSpPr>
        <p:spPr>
          <a:xfrm>
            <a:off x="747793" y="2856111"/>
            <a:ext cx="197639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99812" y="2876649"/>
            <a:ext cx="4798396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Desempenho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99812" y="3187502"/>
            <a:ext cx="4798396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Latência e throughput adequados ao volume e à velocidade dos dados processados.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8383" y="3776365"/>
            <a:ext cx="296458" cy="296466"/>
          </a:xfrm>
          <a:prstGeom prst="roundRect">
            <a:avLst>
              <a:gd name="adj" fmla="val 6669"/>
            </a:avLst>
          </a:prstGeom>
          <a:solidFill>
            <a:srgbClr val="E9ECF2"/>
          </a:solidFill>
          <a:ln/>
        </p:spPr>
      </p:sp>
      <p:sp>
        <p:nvSpPr>
          <p:cNvPr id="15" name="Text 13"/>
          <p:cNvSpPr/>
          <p:nvPr/>
        </p:nvSpPr>
        <p:spPr>
          <a:xfrm>
            <a:off x="747793" y="3801070"/>
            <a:ext cx="197639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099812" y="3821609"/>
            <a:ext cx="4798396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Funcionalidade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99812" y="4132461"/>
            <a:ext cx="4798396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Capacidade de atender às necessidades reais do negócio, não apenas requisitos técnicos.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8383" y="4721324"/>
            <a:ext cx="296458" cy="296466"/>
          </a:xfrm>
          <a:prstGeom prst="roundRect">
            <a:avLst>
              <a:gd name="adj" fmla="val 6669"/>
            </a:avLst>
          </a:prstGeom>
          <a:solidFill>
            <a:srgbClr val="E9ECF2"/>
          </a:solidFill>
          <a:ln/>
        </p:spPr>
      </p:sp>
      <p:sp>
        <p:nvSpPr>
          <p:cNvPr id="19" name="Text 17"/>
          <p:cNvSpPr/>
          <p:nvPr/>
        </p:nvSpPr>
        <p:spPr>
          <a:xfrm>
            <a:off x="747793" y="4746030"/>
            <a:ext cx="197639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099812" y="4766568"/>
            <a:ext cx="4798396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Confiabilidade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99812" y="5077420"/>
            <a:ext cx="4798396" cy="189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Sistemas resilientes, com tolerância a falhas e recuperação automática.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8383" y="5476875"/>
            <a:ext cx="296458" cy="296466"/>
          </a:xfrm>
          <a:prstGeom prst="roundRect">
            <a:avLst>
              <a:gd name="adj" fmla="val 6669"/>
            </a:avLst>
          </a:prstGeom>
          <a:solidFill>
            <a:srgbClr val="E9ECF2"/>
          </a:solidFill>
          <a:ln/>
        </p:spPr>
      </p:sp>
      <p:sp>
        <p:nvSpPr>
          <p:cNvPr id="23" name="Text 21"/>
          <p:cNvSpPr/>
          <p:nvPr/>
        </p:nvSpPr>
        <p:spPr>
          <a:xfrm>
            <a:off x="747793" y="5501580"/>
            <a:ext cx="197639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099812" y="5522119"/>
            <a:ext cx="4798396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99812" y="5832971"/>
            <a:ext cx="4798396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Orçamento sustentável que acompanhe o crescimento sem surpresas financeiras.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2928" y="1751905"/>
            <a:ext cx="5273642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 Antipadrão do "Descobrir na Entrega"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62928" y="2062758"/>
            <a:ext cx="5273642" cy="757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oposto do que uma infraestrutura de dados precisa é descobrir gargalos, limitações de capacidade ou incompatibilidades arquiteturais apenas no momento da entrega em produção. Esse padrão — comum em projetos sem governança — gera retrabalho massivo, custos imprevistos e, no pior caso, colapso total do sistema sob carga real.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2928" y="2938463"/>
            <a:ext cx="5273642" cy="823020"/>
          </a:xfrm>
          <a:prstGeom prst="roundRect">
            <a:avLst>
              <a:gd name="adj" fmla="val 2402"/>
            </a:avLst>
          </a:prstGeom>
          <a:solidFill>
            <a:srgbClr val="FCF2B5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4687" y="3094434"/>
            <a:ext cx="164699" cy="131763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691145" y="3065859"/>
            <a:ext cx="4713666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 Big Data, o volume cresce exponencialmente. Uma arquitetura que funciona para 1 milhão de registros pode colapsar completamente com 100 milhões — se não foi projetada para escalar desde o início.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262928" y="3879552"/>
            <a:ext cx="5273642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solução é incorporar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validação contínua de capacidade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ao longo do ciclo de vida do projeto, não apenas no final. Testes de carga, provas de conceito e revisões arquiteturais periódicas são práticas essenciais.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3923"/>
            <a:ext cx="10868745" cy="48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Big Data em uma frase: análise rápida + volume + variedade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369120"/>
            <a:ext cx="10868745" cy="4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Big Data não é apenas "muito dado". É a combinação de </a:t>
            </a:r>
            <a:pPr algn="l" indent="0" marL="0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alta velocidade de processamento</a:t>
            </a:r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grandes volumes de armazenamento</a:t>
            </a:r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 </a:t>
            </a:r>
            <a:pPr algn="l" indent="0" marL="0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variedade de formatos e fontes</a:t>
            </a:r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tudo isso exigindo infraestrutura capaz de transformar dados brutos em decisões ágeis e confiáveis.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13248"/>
            <a:ext cx="387539" cy="3875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582466"/>
            <a:ext cx="5343491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Velocidade (Velocity)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61475" y="2911872"/>
            <a:ext cx="5343491" cy="1201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processamento de alta velocidade é essencial para cenários como transações financeiras, monitoramento de sensores IoT e análise de logs em tempo real. Sistemas tradicionais de batch não conseguem acompanhar a cadência dos dados modernos — é necessário arquiteturas que suportem streaming e processamento contínuo.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6630" y="2013248"/>
            <a:ext cx="387539" cy="3875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86630" y="2582466"/>
            <a:ext cx="5343590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Volume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186630" y="2911872"/>
            <a:ext cx="5343590" cy="961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Grandes volumes de dados — de terabytes a petabytes — exigem armazenamento distribuído e estratégias de particionamento inteligentes. O crescimento contínuo dos dados significa que a infraestrutura precisa ser projetada para escalar sem interrupção do serviço.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404122"/>
            <a:ext cx="387539" cy="3875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4973340"/>
            <a:ext cx="5343491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Variedade (Variety)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61475" y="5302746"/>
            <a:ext cx="5343491" cy="961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Dados estruturados (tabelas SQL), semiestruturados (JSON, XML) e não estruturados (imagens, vídeos, logs) coexistem no mesmo ecossistema. A infraestrutura precisa ser capaz de ingerir, processar e servir esses diferentes formatos de forma integrada e governada.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6630" y="4404122"/>
            <a:ext cx="387539" cy="3875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86630" y="4973340"/>
            <a:ext cx="5343590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Meta Prática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6186630" y="5302746"/>
            <a:ext cx="5343590" cy="961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Reduzir gargalos de processamento e manter o sistema funcional sob crescimento contínuo. O objetivo final é transformar dados em </a:t>
            </a:r>
            <a:pPr algn="l" indent="0" marL="0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produto de decisão</a:t>
            </a:r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com qualidade, rastreabilidade e disponibilidade adequadas ao negócio.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0616"/>
            <a:ext cx="10868745" cy="306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Arquitetura tradicional vs Big Data: onde o dado mora muda tudo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903982"/>
            <a:ext cx="10868745" cy="250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diferença fundamental entre uma arquitetura tradicional de dados e uma arquitetura de Big Data está em </a:t>
            </a:r>
            <a:pPr algn="l" indent="0" marL="0">
              <a:lnSpc>
                <a:spcPct val="106000"/>
              </a:lnSpc>
              <a:buNone/>
            </a:pPr>
            <a:r>
              <a:rPr lang="en-US" sz="7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onde o dado reside e onde o processamento ocorre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Essa decisão arquitetural tem implicações profundas em desempenho, custo e escalabilidade.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1278235"/>
            <a:ext cx="5314619" cy="159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🗄️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Arquitetura Tradicional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61475" y="1496219"/>
            <a:ext cx="5314619" cy="375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 abordagem clássica, os dados ficam centralizados em um repositório (geralmente um banco de dados relacional), e o processamento ocorre em computadores separados. Para analisar os dados, é necessário </a:t>
            </a:r>
            <a:pPr algn="l" indent="0" marL="0">
              <a:lnSpc>
                <a:spcPct val="106000"/>
              </a:lnSpc>
              <a:buNone/>
            </a:pPr>
            <a:r>
              <a:rPr lang="en-US" sz="7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mover grandes volumes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do repositório para a camada de processamento — o que gera latência, custo de rede e gargalos de I/O.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61475" y="1924248"/>
            <a:ext cx="5314619" cy="707430"/>
          </a:xfrm>
          <a:prstGeom prst="rect">
            <a:avLst/>
          </a:prstGeom>
          <a:noFill/>
          <a:ln/>
        </p:spPr>
        <p:txBody>
          <a:bodyPr wrap="square" lIns="0" tIns="39280" rIns="0" bIns="0" rtlCol="0" anchor="t">
            <a:normAutofit/>
          </a:bodyPr>
          <a:lstStyle/>
          <a:p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Dados centralizados em repositório único ou few nós</a:t>
            </a:r>
            <a:endParaRPr lang="en-US" sz="750" dirty="0"/>
          </a:p>
          <a:p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Processamento em máquinas separadas do armazenamento</a:t>
            </a:r>
            <a:endParaRPr lang="en-US" sz="750" dirty="0"/>
          </a:p>
          <a:p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Alto custo de migração de dados para análise</a:t>
            </a:r>
            <a:endParaRPr lang="en-US" sz="750" dirty="0"/>
          </a:p>
          <a:p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Paralelismo limitado pela capacidade do repositório central</a:t>
            </a:r>
            <a:endParaRPr lang="en-US" sz="750" dirty="0"/>
          </a:p>
          <a:p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Escalabilidade vertical como principal estratégia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151210" y="1219994"/>
            <a:ext cx="5456101" cy="1432024"/>
          </a:xfrm>
          <a:prstGeom prst="roundRect">
            <a:avLst>
              <a:gd name="adj" fmla="val 1029"/>
            </a:avLst>
          </a:prstGeom>
          <a:solidFill>
            <a:srgbClr val="3257B8"/>
          </a:solidFill>
          <a:ln/>
        </p:spPr>
      </p:sp>
      <p:sp>
        <p:nvSpPr>
          <p:cNvPr id="8" name="Text 6"/>
          <p:cNvSpPr/>
          <p:nvPr/>
        </p:nvSpPr>
        <p:spPr>
          <a:xfrm>
            <a:off x="6249335" y="1278235"/>
            <a:ext cx="5259851" cy="159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Arquitetura Big Data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49335" y="1496219"/>
            <a:ext cx="5259851" cy="375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modelo Big Data, os dados são </a:t>
            </a:r>
            <a:pPr algn="l" indent="0" marL="0">
              <a:lnSpc>
                <a:spcPct val="106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distribuídos no momento do armazenamento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particionados em múltiplos nós do cluster. O processamento ocorre </a:t>
            </a:r>
            <a:pPr algn="l" indent="0" marL="0">
              <a:lnSpc>
                <a:spcPct val="106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 mesmo local onde o dado está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eliminando a necessidade de mover grandes volumes pela rede. Isso viabiliza paralelismo real em escala.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249335" y="1924248"/>
            <a:ext cx="5259851" cy="707430"/>
          </a:xfrm>
          <a:prstGeom prst="rect">
            <a:avLst/>
          </a:prstGeom>
          <a:noFill/>
          <a:ln/>
        </p:spPr>
        <p:txBody>
          <a:bodyPr wrap="square" lIns="0" tIns="39280" rIns="0" bIns="0" rtlCol="0" anchor="t">
            <a:normAutofit/>
          </a:bodyPr>
          <a:lstStyle/>
          <a:p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Dados distribuídos e particionados no cluster</a:t>
            </a:r>
            <a:endParaRPr lang="en-US" sz="750" dirty="0"/>
          </a:p>
          <a:p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Computação ocorre onde o dado está armazenado (data locality)</a:t>
            </a:r>
            <a:endParaRPr lang="en-US" sz="750" dirty="0"/>
          </a:p>
          <a:p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Menos migração cara de dados pela rede</a:t>
            </a:r>
            <a:endParaRPr lang="en-US" sz="750" dirty="0"/>
          </a:p>
          <a:p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Paralelismo real: múltiplos nós processam simultaneamente</a:t>
            </a:r>
            <a:endParaRPr lang="en-US" sz="750" dirty="0"/>
          </a:p>
          <a:p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Escalabilidade horizontal como estratégia principal</a:t>
            </a:r>
            <a:endParaRPr lang="en-US" sz="7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9584" y="2717602"/>
            <a:ext cx="5832528" cy="33436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761282" y="3855207"/>
            <a:ext cx="1908952" cy="611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Arquitetura Tradicional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3761282" y="4553526"/>
            <a:ext cx="1908952" cy="389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Dado move-se para o compute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532752" y="3789994"/>
            <a:ext cx="1908952" cy="611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Arquitetura Big Data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532752" y="4488314"/>
            <a:ext cx="1908952" cy="389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 move-se para o dado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61475" y="6126857"/>
            <a:ext cx="10868745" cy="250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princípio de </a:t>
            </a:r>
            <a:pPr algn="l" indent="0" marL="0">
              <a:lnSpc>
                <a:spcPct val="106000"/>
              </a:lnSpc>
              <a:buNone/>
            </a:pPr>
            <a:r>
              <a:rPr lang="en-US" sz="7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data locality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levar a computação até o dado, não o contrário — é um dos pilares fundamentais do Hadoop e de sistemas distribuídos modernos. Essa inversão de paradigma é o que torna possível processar petabytes de dados de forma economicamente viável.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2944"/>
            <a:ext cx="10868745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Hadoop como peça-chave (e por que ele importa na base)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503958"/>
            <a:ext cx="10868745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Apache Hadoop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é o ecossistema open-source que popularizou o processamento distribuído em larga escala. Mais do que uma ferramenta isolada, o Hadoop representa um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ponto de partida conceitual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para pensar em clusters, confiabilidade e escalabilidade — fundamentos que permeiam toda a infraestrutura moderna de Big Data.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435423"/>
            <a:ext cx="3519399" cy="37295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6858" y="2614613"/>
            <a:ext cx="3084832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 que é o Hadoop?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916858" y="2958009"/>
            <a:ext cx="3084832" cy="2775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Hadoop é um framework open-source que permite o processamento distribuído de grandes volumes de dados em clusters de computadores. Seu núcleo é composto por dois componentes principais: o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HDFS (Hadoop Distributed File System)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que distribui o armazenamento dos dados entre os nós do cluster, e o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MapReduce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modelo de programação que distribui o processamento. Juntos, eles implementam o princípio de data locality de forma nativa.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6049" y="2435423"/>
            <a:ext cx="3519499" cy="37295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91431" y="2614613"/>
            <a:ext cx="3084931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Por que ele importa na base?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4591431" y="2958009"/>
            <a:ext cx="3084931" cy="3027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Hadoop introduziu conceitos que se tornaram padrão na indústria: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tolerância a falhas por replicação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(os dados são copiados em múltiplos nós),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escalabilidade horizontal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(adicione mais máquinas ao cluster sem downtime) e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processamento próximo ao dado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Mesmo quando organizações migram para soluções mais modernas (Spark, Flink, cloud-native), os princípios do Hadoop continuam sendo a base conceitual do design arquitetural.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0721" y="2435423"/>
            <a:ext cx="3519499" cy="372953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66104" y="2614613"/>
            <a:ext cx="3084931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 Ecossistema Hadoop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8266104" y="2958009"/>
            <a:ext cx="3084931" cy="2270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Além do núcleo HDFS + MapReduce, o ecossistema inclui ferramentas como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Apache Hive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(SQL sobre Hadoop),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Apache HBase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(banco NoSQL),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Apache ZooKeeper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(coordenação distribuída) e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Apache Sqoop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(transferência entre bancos relacionais e Hadoop). Conhecer esse ecossistema é essencial para projetar plataformas de dados robustas.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4840"/>
            <a:ext cx="10868745" cy="444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Escalabilidade que não quebra: vertical vs horizontal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153220"/>
            <a:ext cx="10868745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escolha entre escalabilidade vertical e horizontal é uma das decisões arquiteturais mais impactantes em projetos de Big Data. Essa decisão define o teto de crescimento do sistema, o custo operacional de longo prazo e a resiliência da plataforma frente à explosão de dados.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835547"/>
            <a:ext cx="5261042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📈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Escalabilidade Vertical (Scale-Up)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61475" y="2186087"/>
            <a:ext cx="5261042" cy="6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escalabilidade vertical consiste em </a:t>
            </a:r>
            <a:pPr algn="l" indent="0" marL="0">
              <a:lnSpc>
                <a:spcPct val="12400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aumentar os recursos de uma única máquina</a:t>
            </a:r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mais CPU, mais RAM, discos mais rápidos. É a abordagem mais simples inicialmente, mas tem limitações sérias em cenários de Big Data.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1475" y="2930227"/>
            <a:ext cx="5261042" cy="1439267"/>
          </a:xfrm>
          <a:prstGeom prst="rect">
            <a:avLst/>
          </a:prstGeom>
          <a:noFill/>
          <a:ln/>
        </p:spPr>
        <p:txBody>
          <a:bodyPr wrap="square" lIns="0" tIns="56853" rIns="0" bIns="0" rtlCol="0" anchor="t">
            <a:normAutofit/>
          </a:bodyPr>
          <a:lstStyle/>
          <a:p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Alto custo:</a:t>
            </a:r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servidores de alta capacidade são exponencialmente mais caros</a:t>
            </a:r>
            <a:endParaRPr lang="en-US" sz="1100" dirty="0"/>
          </a:p>
          <a:p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Limite físico cedo:</a:t>
            </a:r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existe um teto máximo de recursos por máquina</a:t>
            </a:r>
            <a:endParaRPr lang="en-US" sz="1100" dirty="0"/>
          </a:p>
          <a:p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Single point of failure:</a:t>
            </a:r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 a máquina falha, o sistema inteiro para</a:t>
            </a:r>
            <a:endParaRPr lang="en-US" sz="1100" dirty="0"/>
          </a:p>
          <a:p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Downtime para upgrades:</a:t>
            </a:r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adicionar recursos frequentemente exige parada</a:t>
            </a:r>
            <a:endParaRPr lang="en-US" sz="1100" dirty="0"/>
          </a:p>
          <a:p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Não acompanha a explosão de dados:</a:t>
            </a:r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 crescimento exponencial supera rapidamente a capacidade de scale-up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3236" y="1713409"/>
            <a:ext cx="5465626" cy="2910185"/>
          </a:xfrm>
          <a:prstGeom prst="roundRect">
            <a:avLst>
              <a:gd name="adj" fmla="val 733"/>
            </a:avLst>
          </a:prstGeom>
          <a:solidFill>
            <a:srgbClr val="3257B8"/>
          </a:solidFill>
          <a:ln/>
        </p:spPr>
      </p:sp>
      <p:sp>
        <p:nvSpPr>
          <p:cNvPr id="8" name="Text 6"/>
          <p:cNvSpPr/>
          <p:nvPr/>
        </p:nvSpPr>
        <p:spPr>
          <a:xfrm>
            <a:off x="6315314" y="1835547"/>
            <a:ext cx="5181470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🌐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Escalabilidade Horizontal (Scale-Out)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15314" y="2186087"/>
            <a:ext cx="5181470" cy="6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escalabilidade horizontal consiste em </a:t>
            </a:r>
            <a:pPr algn="l" indent="0" marL="0">
              <a:lnSpc>
                <a:spcPct val="12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adicionar mais máquinas ao cluster</a:t>
            </a:r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distribuindo carga e dados entre os nós. É a abordagem preferencial para Big Data.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5314" y="2930227"/>
            <a:ext cx="5181470" cy="1650702"/>
          </a:xfrm>
          <a:prstGeom prst="rect">
            <a:avLst/>
          </a:prstGeom>
          <a:noFill/>
          <a:ln/>
        </p:spPr>
        <p:txBody>
          <a:bodyPr wrap="square" lIns="0" tIns="56853" rIns="0" bIns="0" rtlCol="0" anchor="t">
            <a:normAutofit/>
          </a:bodyPr>
          <a:lstStyle/>
          <a:p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Custo linear:</a:t>
            </a:r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adicionar máquinas commodity é mais barato que servidores high-end</a:t>
            </a:r>
            <a:endParaRPr lang="en-US" sz="1100" dirty="0"/>
          </a:p>
          <a:p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Escalabilidade "ilimitada":</a:t>
            </a:r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teoricamente, adicione nós conforme necessário</a:t>
            </a:r>
            <a:endParaRPr lang="en-US" sz="1100" dirty="0"/>
          </a:p>
          <a:p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Resiliência nativa:</a:t>
            </a:r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falhas em nós individuais não derrubam o sistema</a:t>
            </a:r>
            <a:endParaRPr lang="en-US" sz="1100" dirty="0"/>
          </a:p>
          <a:p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Expansão sem downtime:</a:t>
            </a:r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novos nós podem ser adicionados em operação</a:t>
            </a:r>
            <a:endParaRPr lang="en-US" sz="1100" dirty="0"/>
          </a:p>
          <a:p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Alinha com a explosão de dados:</a:t>
            </a:r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processamento distribuído acompanha o crescimento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1475" y="4831953"/>
            <a:ext cx="3521185" cy="469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~3x</a:t>
            </a:r>
            <a:endParaRPr lang="en-US" sz="3650" dirty="0"/>
          </a:p>
        </p:txBody>
      </p:sp>
      <p:sp>
        <p:nvSpPr>
          <p:cNvPr id="12" name="Text 10"/>
          <p:cNvSpPr/>
          <p:nvPr/>
        </p:nvSpPr>
        <p:spPr>
          <a:xfrm>
            <a:off x="661475" y="5463580"/>
            <a:ext cx="352118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 por GB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1475" y="5758855"/>
            <a:ext cx="3521185" cy="6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Servidores verticalmente escalados podem custar até 3x mais por GB processado comparado a clusters horizontais com máquinas commodity.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35255" y="4831953"/>
            <a:ext cx="3521185" cy="469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99.9%</a:t>
            </a:r>
            <a:endParaRPr lang="en-US" sz="3650" dirty="0"/>
          </a:p>
        </p:txBody>
      </p:sp>
      <p:sp>
        <p:nvSpPr>
          <p:cNvPr id="15" name="Text 13"/>
          <p:cNvSpPr/>
          <p:nvPr/>
        </p:nvSpPr>
        <p:spPr>
          <a:xfrm>
            <a:off x="4335255" y="5463580"/>
            <a:ext cx="352118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Disponibilidade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335255" y="5758855"/>
            <a:ext cx="3521185" cy="6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Clusters bem projetados com replicação e tolerância a falhas alcançam disponibilidade superior a 99,9% mesmo com falhas de nós individuais.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09035" y="4831953"/>
            <a:ext cx="3521185" cy="469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∞</a:t>
            </a:r>
            <a:endParaRPr lang="en-US" sz="3650" dirty="0"/>
          </a:p>
        </p:txBody>
      </p:sp>
      <p:sp>
        <p:nvSpPr>
          <p:cNvPr id="18" name="Text 16"/>
          <p:cNvSpPr/>
          <p:nvPr/>
        </p:nvSpPr>
        <p:spPr>
          <a:xfrm>
            <a:off x="8009035" y="5463580"/>
            <a:ext cx="352118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Teto de Escala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09035" y="5758855"/>
            <a:ext cx="3521185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escalabilidade horizontal não tem teto teórico — o limite prático é o orçamento, não a arquitetura.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Enfileirando o mundo: ingestão batch/stream + camadas de plataforma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795933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Uma plataforma de Big Data madura não é um componente único — é um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sistema em camadas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cada uma com responsabilidades claras. O objetivo é transformar eventos e dados brutos em produtos de decisão, de forma governada, rastreável e sem improviso arquitetural.</a:t>
            </a:r>
            <a:endParaRPr lang="en-US" sz="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41487"/>
            <a:ext cx="9753356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6515596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Componentes de Ingestão e Controle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61475" y="6686054"/>
            <a:ext cx="5333569" cy="297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camada de ingestão é a porta de entrada de todos os dados na plataforma. Componentes como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API Gateway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ESB (Enterprise Service Bus)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gerenciam o acesso, aplicam políticas de segurança e controlam o fluxo de entrada. O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Apache Kafka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atua como backbone de eventos, suportando tanto ingestão em batch quanto em streaming contínuo.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661475" y="7020620"/>
            <a:ext cx="5333569" cy="439638"/>
          </a:xfrm>
          <a:prstGeom prst="rect">
            <a:avLst/>
          </a:prstGeom>
          <a:noFill/>
          <a:ln/>
        </p:spPr>
        <p:txBody>
          <a:bodyPr wrap="square" lIns="0" tIns="33078" rIns="0" bIns="0" rtlCol="0" anchor="t">
            <a:normAutofit/>
          </a:bodyPr>
          <a:lstStyle/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Gateway: controle de acesso, rate limiting, autenticação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ESB: integração entre sistemas heterogêneos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Kafka: buffer de eventos, desacoplamento produtor/consumidor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Controle de acesso e governança desde a entrada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6203001" y="6515596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Camadas de Analytics e ML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03001" y="6686054"/>
            <a:ext cx="5333569" cy="297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 camadas superiores transformam dados em valor. A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Fast Layer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processa eventos em tempo real usando ferramentas como Kafka Streams ou Apache Flink. A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Service Layer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expõe dados processados como produtos consumíveis — APIs, modelos de ML, dashboards. O objetivo final é que cada dado ingerido se torne um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produto de decisão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rastreável e confiável.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6203001" y="7020620"/>
            <a:ext cx="5333569" cy="439638"/>
          </a:xfrm>
          <a:prstGeom prst="rect">
            <a:avLst/>
          </a:prstGeom>
          <a:noFill/>
          <a:ln/>
        </p:spPr>
        <p:txBody>
          <a:bodyPr wrap="square" lIns="0" tIns="33078" rIns="0" bIns="0" rtlCol="0" anchor="t">
            <a:normAutofit/>
          </a:bodyPr>
          <a:lstStyle/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 Layer: processamento de baixa latência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Analytics: agregações, relatórios, OLAP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Learning: modelos preditivos e prescritivos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Applications: dashboards, sistemas operacionais, alertas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Desafio inicial: extrair XMLs e entregar valor com controle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795933"/>
            <a:ext cx="10868745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Este desafio prático coloca em teste os conceitos arquiteturais da aula. O cenário envolve a extração de centenas de milhões de registros XML armazenados em um banco PostgreSQL, com requisitos de contagem, histórico e processamento em tempo real — usando Kafka e suas variações como tecnologia central.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01945" y="1040606"/>
            <a:ext cx="5452628" cy="1716286"/>
          </a:xfrm>
          <a:prstGeom prst="roundRect">
            <a:avLst>
              <a:gd name="adj" fmla="val 723"/>
            </a:avLst>
          </a:prstGeom>
          <a:solidFill>
            <a:srgbClr val="3257B8"/>
          </a:solidFill>
          <a:ln/>
        </p:spPr>
      </p:sp>
      <p:sp>
        <p:nvSpPr>
          <p:cNvPr id="5" name="Text 3"/>
          <p:cNvSpPr/>
          <p:nvPr/>
        </p:nvSpPr>
        <p:spPr>
          <a:xfrm>
            <a:off x="684592" y="1081881"/>
            <a:ext cx="5287334" cy="135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Escopo do Desafio — Fase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4592" y="1258689"/>
            <a:ext cx="5896919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Objetivo: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Extrair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600 milhões de XMLs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um banco PostgreSQL e transformá-los em produtos de dados utilizáveis.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84592" y="1395016"/>
            <a:ext cx="5287334" cy="439638"/>
          </a:xfrm>
          <a:prstGeom prst="rect">
            <a:avLst/>
          </a:prstGeom>
          <a:noFill/>
          <a:ln/>
        </p:spPr>
        <p:txBody>
          <a:bodyPr wrap="square" lIns="0" tIns="33078" rIns="0" bIns="0" rtlCol="0" anchor="t">
            <a:normAutofit/>
          </a:bodyPr>
          <a:lstStyle/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Contagens:</a:t>
            </a:r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aggregações e estatísticas sobre o volume extraído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Histórico:</a:t>
            </a:r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rastreabilidade temporal dos dados processados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Tempo real:</a:t>
            </a:r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capacidade de processar e servir dados com baixa latência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Controle:</a:t>
            </a:r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governança, monitoramento e qualidade dos dados extraídos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684592" y="1871861"/>
            <a:ext cx="5287334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Este volume exige arquitetura distribuída — uma abordagem single-threaded ou batch simples não escala para 600M de registros com requisitos de tempo real.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6203001" y="1081881"/>
            <a:ext cx="5333569" cy="135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Próxima Escala — Fase 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03001" y="1258689"/>
            <a:ext cx="5333569" cy="297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Após validar a Fase 1, o desafio evolui para extrair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50 milhões de XMLs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do mesmo PostgreSQL, com foco em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refinamento de produtividade e compliance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Esta fase testa a maturidade da plataforma: não apenas extrair dados, mas fazê-lo de forma eficiente, auditável e em conformidade com políticas de governança.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6203001" y="1597323"/>
            <a:ext cx="5333569" cy="135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🔧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Contexto Tecnológico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03001" y="1774130"/>
            <a:ext cx="594315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desafio utiliza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Apache Kafka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 suas variações como espinha dorsal da solução: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6203001" y="1910457"/>
            <a:ext cx="5333569" cy="439638"/>
          </a:xfrm>
          <a:prstGeom prst="rect">
            <a:avLst/>
          </a:prstGeom>
          <a:noFill/>
          <a:ln/>
        </p:spPr>
        <p:txBody>
          <a:bodyPr wrap="square" lIns="0" tIns="33078" rIns="0" bIns="0" rtlCol="0" anchor="t">
            <a:normAutofit/>
          </a:bodyPr>
          <a:lstStyle/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Kafka Core:</a:t>
            </a:r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ingestão e buffer de eventos em alta throughput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Kafka Streams:</a:t>
            </a:r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processamento stateful em tempo real sobre os streams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Kafka Connect:</a:t>
            </a:r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integração com PostgreSQL (source connector) e destinos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Schema Registry:</a:t>
            </a:r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controle de versão e compatibilidade dos dados XML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6203001" y="2396530"/>
            <a:ext cx="5333569" cy="313928"/>
          </a:xfrm>
          <a:prstGeom prst="roundRect">
            <a:avLst>
              <a:gd name="adj" fmla="val 3951"/>
            </a:avLst>
          </a:prstGeom>
          <a:solidFill>
            <a:srgbClr val="D7DFF4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5648" y="2462312"/>
            <a:ext cx="103284" cy="8264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71580" y="2454374"/>
            <a:ext cx="4982343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desafio simula um cenário real de migração de dados legados (XML em RDBMS) para uma arquitetura moderna de streaming — um padrão comum em transformação digital.</a:t>
            </a:r>
            <a:endParaRPr lang="en-US" sz="6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803327"/>
            <a:ext cx="10868745" cy="48909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737623" y="3065250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Extração</a:t>
            </a:r>
            <a:endParaRPr lang="en-US" sz="1850" dirty="0"/>
          </a:p>
        </p:txBody>
      </p:sp>
      <p:sp>
        <p:nvSpPr>
          <p:cNvPr id="19" name="Text 15"/>
          <p:cNvSpPr/>
          <p:nvPr/>
        </p:nvSpPr>
        <p:spPr>
          <a:xfrm>
            <a:off x="2737623" y="3442787"/>
            <a:ext cx="1902004" cy="352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Extrair 600M XMLs do PostgreSQL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5141253" y="6733491"/>
            <a:ext cx="191245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Processamento</a:t>
            </a:r>
            <a:endParaRPr lang="en-US" sz="1850" dirty="0"/>
          </a:p>
        </p:txBody>
      </p:sp>
      <p:sp>
        <p:nvSpPr>
          <p:cNvPr id="21" name="Text 17"/>
          <p:cNvSpPr/>
          <p:nvPr/>
        </p:nvSpPr>
        <p:spPr>
          <a:xfrm>
            <a:off x="5141253" y="7111028"/>
            <a:ext cx="191245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Kafka: batch e stream para transformar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7471730" y="3028672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Entrega</a:t>
            </a:r>
            <a:endParaRPr lang="en-US" sz="1850" dirty="0"/>
          </a:p>
        </p:txBody>
      </p:sp>
      <p:sp>
        <p:nvSpPr>
          <p:cNvPr id="23" name="Text 19"/>
          <p:cNvSpPr/>
          <p:nvPr/>
        </p:nvSpPr>
        <p:spPr>
          <a:xfrm>
            <a:off x="7471730" y="3406209"/>
            <a:ext cx="1902004" cy="352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Contagens, histórico e dados em tempo real</a:t>
            </a:r>
            <a:endParaRPr lang="en-US" sz="1450" dirty="0"/>
          </a:p>
        </p:txBody>
      </p:sp>
      <p:sp>
        <p:nvSpPr>
          <p:cNvPr id="24" name="Text 20"/>
          <p:cNvSpPr/>
          <p:nvPr/>
        </p:nvSpPr>
        <p:spPr>
          <a:xfrm>
            <a:off x="661475" y="7740749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fluxo acima ilustra as três fases do desafio: extração massiva do PostgreSQL, processamento distribuído via Kafka (combinando batch e streaming), e entrega de valor em diferentes granularidades temporais — desde contagens agregadas até dados em tempo real.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0835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Conclusão: a infraestrutura "certa" evita o Vasa e acelera o dia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196280"/>
            <a:ext cx="10868745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lição do Vasa e os fundamentos de Big Data convergem em uma mensagem clara: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arquitetura não é detalhe — é a diferença entre colapso e escala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Projetar a infraestrutura correta desde o início evita o "afundamento na viagem inaugural" e acelera a entrega de valor desde o primeiro dia.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1772841"/>
            <a:ext cx="5371073" cy="1803202"/>
          </a:xfrm>
          <a:prstGeom prst="roundRect">
            <a:avLst>
              <a:gd name="adj" fmla="val 1204"/>
            </a:avLst>
          </a:prstGeom>
          <a:solidFill>
            <a:srgbClr val="E9ECF2"/>
          </a:solidFill>
          <a:ln/>
        </p:spPr>
      </p:sp>
      <p:sp>
        <p:nvSpPr>
          <p:cNvPr id="5" name="Shape 3"/>
          <p:cNvSpPr/>
          <p:nvPr/>
        </p:nvSpPr>
        <p:spPr>
          <a:xfrm>
            <a:off x="806132" y="1917502"/>
            <a:ext cx="434071" cy="434082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5489" y="2036862"/>
            <a:ext cx="195357" cy="1953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132" y="2478187"/>
            <a:ext cx="508175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Distribua Dados e Compute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6132" y="2780109"/>
            <a:ext cx="5081758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Armazene e processe dados no mesmo local (data locality). Elimine a migração cara de dados pela rede. Use HDFS, particionamento e estratégias de distribuição nativas do cluster.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59147" y="1772841"/>
            <a:ext cx="5371073" cy="1803202"/>
          </a:xfrm>
          <a:prstGeom prst="roundRect">
            <a:avLst>
              <a:gd name="adj" fmla="val 1204"/>
            </a:avLst>
          </a:prstGeom>
          <a:solidFill>
            <a:srgbClr val="E9ECF2"/>
          </a:solidFill>
          <a:ln/>
        </p:spPr>
      </p:sp>
      <p:sp>
        <p:nvSpPr>
          <p:cNvPr id="10" name="Shape 7"/>
          <p:cNvSpPr/>
          <p:nvPr/>
        </p:nvSpPr>
        <p:spPr>
          <a:xfrm>
            <a:off x="6303805" y="1917502"/>
            <a:ext cx="434071" cy="434082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3162" y="2036862"/>
            <a:ext cx="195357" cy="1953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03805" y="2478187"/>
            <a:ext cx="508175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Planeje Escalabilidade Horizontal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303805" y="2780109"/>
            <a:ext cx="5081758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Projete para scale-out desde o início. Adicionar máquinas ao cluster deve ser uma operação rotineira, não uma reengenharia. Escolha tecnologias cloud-native ou on-premise que suportem expansão sem downtime.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61475" y="3702645"/>
            <a:ext cx="5371073" cy="1803202"/>
          </a:xfrm>
          <a:prstGeom prst="roundRect">
            <a:avLst>
              <a:gd name="adj" fmla="val 1204"/>
            </a:avLst>
          </a:prstGeom>
          <a:solidFill>
            <a:srgbClr val="E9ECF2"/>
          </a:solidFill>
          <a:ln/>
        </p:spPr>
      </p:sp>
      <p:sp>
        <p:nvSpPr>
          <p:cNvPr id="15" name="Shape 11"/>
          <p:cNvSpPr/>
          <p:nvPr/>
        </p:nvSpPr>
        <p:spPr>
          <a:xfrm>
            <a:off x="806132" y="3847306"/>
            <a:ext cx="434071" cy="434082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5489" y="3966666"/>
            <a:ext cx="195357" cy="1953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6132" y="4407991"/>
            <a:ext cx="508175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 Plataforma em Camadas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06132" y="4709914"/>
            <a:ext cx="5081758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Estruture a plataforma em camadas claras: Ingestão (batch + stream), Fast Layer (tempo real), Service Layer (Analytics/ML) e Applications. Cada camada tem responsabilidades, tecnologias e SLAs próprios.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59147" y="3702645"/>
            <a:ext cx="5371073" cy="1803202"/>
          </a:xfrm>
          <a:prstGeom prst="roundRect">
            <a:avLst>
              <a:gd name="adj" fmla="val 1204"/>
            </a:avLst>
          </a:prstGeom>
          <a:solidFill>
            <a:srgbClr val="E9ECF2"/>
          </a:solidFill>
          <a:ln/>
        </p:spPr>
      </p:sp>
      <p:sp>
        <p:nvSpPr>
          <p:cNvPr id="20" name="Shape 15"/>
          <p:cNvSpPr/>
          <p:nvPr/>
        </p:nvSpPr>
        <p:spPr>
          <a:xfrm>
            <a:off x="6303805" y="3847306"/>
            <a:ext cx="434071" cy="434082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23162" y="3966666"/>
            <a:ext cx="195357" cy="1953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03805" y="4407991"/>
            <a:ext cx="508175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Valide com o Desafio Real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303805" y="4709914"/>
            <a:ext cx="5081758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desafio de extração de 600M de XMLs via Kafka é a prova prática da arquitetura. Se a plataforma suporta esse volume com controle, governança e tempo real, ela está pronta para escalar.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78461" y="5790605"/>
            <a:ext cx="10651759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Resumo da Aula: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Big Data exige arquitetura distribuída, escalabilidade horizontal planejada e plataformas em camadas. O Vasa afundou porque mudou a arquitetura tarde demais — não repita esse erro. Use Kafka, Hadoop e princípios de data locality para construir infraestrutura que escala desde o Dia 1.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61475" y="5648226"/>
            <a:ext cx="19050" cy="718939"/>
          </a:xfrm>
          <a:prstGeom prst="roundRect">
            <a:avLst>
              <a:gd name="adj" fmla="val 49999"/>
            </a:avLst>
          </a:prstGeom>
          <a:solidFill>
            <a:srgbClr val="3257B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2026-08-19T12:00:27Z</dcterms:created>
  <dcterms:modified xsi:type="dcterms:W3CDTF">2026-08-19T12:00:27Z</dcterms:modified>
</cp:coreProperties>
</file>